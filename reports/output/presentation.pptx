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12000"/>
          </a:xfrm>
          <a:prstGeom prst="rect">
            <a:avLst/>
          </a:prstGeom>
          <a:solidFill>
            <a:srgbClr val="1A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11880000" cy="46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Forecasting Hourly Household Energy Consumption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LUISS Artificial Intelligence Techniques  •  Industry partner: Enel Global ICT  •  Thierry Ishimwe, Linda Carla Zorzoli, Mariavittoria Giurato, Cesar Dushimimana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792000"/>
            <a:ext cx="2700000" cy="1620000"/>
          </a:xfrm>
          <a:prstGeom prst="rect">
            <a:avLst/>
          </a:prstGeom>
          <a:noFill/>
        </p:spPr>
        <p:txBody>
          <a:bodyPr wrap="none" lIns="36000" rIns="36000">
            <a:spAutoFit/>
          </a:bodyPr>
          <a:lstStyle/>
          <a:p>
            <a:pPr algn="l"/>
            <a:r>
              <a:rPr sz="3600" b="1">
                <a:solidFill>
                  <a:srgbClr val="1F77B4"/>
                </a:solidFill>
                <a:latin typeface="Calibri"/>
              </a:rPr>
              <a:t>MAE = 0.336 kW</a:t>
            </a:r>
          </a:p>
          <a:p>
            <a:r>
              <a:rPr sz="1100" i="1">
                <a:solidFill>
                  <a:srgbClr val="555555"/>
                </a:solidFill>
                <a:latin typeface="Calibri"/>
              </a:rPr>
              <a:t>Cross-fold mean, XGBoost (leakage-safe pipeline)</a:t>
            </a:r>
          </a:p>
          <a:p>
            <a:pPr>
              <a:spcBef>
                <a:spcPts val="1000"/>
              </a:spcBef>
            </a:pPr>
            <a:r>
              <a:rPr sz="1000">
                <a:solidFill>
                  <a:srgbClr val="1A3552"/>
                </a:solidFill>
                <a:latin typeface="Calibri"/>
              </a:rPr>
              <a:t>Four model families (SARIMA, XGBoost, LSTM, GRU) compared on a uniform rolling-origin protocol with five metrics. Same-timestamp UCI columns (Voltage, Global_intensity, sub-metering) are mechanically excluded from the feature matrix; short-gap imputation is past-only. The pipeline ships with two regression tests guarding both guarantees.</a:t>
            </a:r>
          </a:p>
        </p:txBody>
      </p:sp>
      <p:pic>
        <p:nvPicPr>
          <p:cNvPr id="5" name="Picture 4" descr="leaderboar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000" y="720000"/>
            <a:ext cx="4500000" cy="27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6000" y="3960000"/>
            <a:ext cx="684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Top three are a statistical tie. </a:t>
            </a:r>
            <a:r>
              <a:rPr sz="1100">
                <a:solidFill>
                  <a:srgbClr val="1A3552"/>
                </a:solidFill>
                <a:latin typeface="Calibri"/>
              </a:rPr>
              <a:t>XGBoost 0.336, GRU 0.339, LSTM 0.341, SARIMA 0.345. Diebold–Mariano: XGBoost vs SARIMA (p=0.022) is the only significant pair at α=0.05.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GRU is competitive with LSTM at lower complexity. </a:t>
            </a:r>
            <a:r>
              <a:rPr sz="1100">
                <a:solidFill>
                  <a:srgbClr val="1A3552"/>
                </a:solidFill>
                <a:latin typeface="Calibri"/>
              </a:rPr>
              <a:t>Same MAE within noise; the simpler GRU cell captures sequential structure as well or better at this resolution.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Weather augmentation validates the future-work priority. </a:t>
            </a:r>
            <a:r>
              <a:rPr sz="1100">
                <a:solidFill>
                  <a:srgbClr val="1A3552"/>
                </a:solidFill>
                <a:latin typeface="Calibri"/>
              </a:rPr>
              <a:t>Adding 4 Paris-Montsouris weather columns to XGBoost: −0.77% MAE, concentrated on heating-season folds.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Leakage-safe by construction. </a:t>
            </a:r>
            <a:r>
              <a:rPr sz="1100">
                <a:solidFill>
                  <a:srgbClr val="1A3552"/>
                </a:solidFill>
                <a:latin typeface="Calibri"/>
              </a:rPr>
              <a:t>Registry blocks same-timestamp components of the target; past-only imputation; two regression tests guard the policy.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000" y="6552000"/>
            <a:ext cx="115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github.com/ThierryIshimwe/Energy-Forecasting  •  Brief: reports/Project_Work_Luiss_AI_Techniques_200326.pdf  •  Full analysis: notebooks/00_main_deliverable.ipynb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12000"/>
          </a:xfrm>
          <a:prstGeom prst="rect">
            <a:avLst/>
          </a:prstGeom>
          <a:solidFill>
            <a:srgbClr val="1A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144000"/>
            <a:ext cx="118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Where Models Win, Where They Lose, and What's Next</a:t>
            </a:r>
          </a:p>
        </p:txBody>
      </p:sp>
      <p:pic>
        <p:nvPicPr>
          <p:cNvPr id="4" name="Picture 3" descr="segment_mae_by_dim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720000"/>
            <a:ext cx="5760000" cy="41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6000" y="4896000"/>
            <a:ext cx="57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555"/>
                </a:solidFill>
                <a:latin typeface="Calibri"/>
              </a:rPr>
              <a:t>MAE by hour-of-day, day-of-week, and validation month. Peak hours and October heating-ramp dominate the error budget.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720000"/>
            <a:ext cx="55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552"/>
                </a:solidFill>
                <a:latin typeface="Calibri"/>
              </a:rPr>
              <a:t>Operational implications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58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Peak-hour MAE is ~2.5× trough-hour MAE. </a:t>
            </a:r>
            <a:r>
              <a:rPr sz="1100">
                <a:solidFill>
                  <a:srgbClr val="1A3552"/>
                </a:solidFill>
                <a:latin typeface="Calibri"/>
              </a:rPr>
              <a:t>XGBoost wins quiet hours; GRU wins peaks. For peak-cost-weighted operations, GRU may be the better deployment choice.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August easiest, October hardest. </a:t>
            </a:r>
            <a:r>
              <a:rPr sz="1100">
                <a:solidFill>
                  <a:srgbClr val="1A3552"/>
                </a:solidFill>
                <a:latin typeface="Calibri"/>
              </a:rPr>
              <a:t>August = grandes vacances (empty household, flat load). October = regulated période de chauffe (heating ramp, MAE ~2× higher).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Stacking does NOT break the 3% cluster. </a:t>
            </a:r>
            <a:r>
              <a:rPr sz="1100">
                <a:solidFill>
                  <a:srgbClr val="1A3552"/>
                </a:solidFill>
                <a:latin typeface="Calibri"/>
              </a:rPr>
              <a:t>Base-model errors are too correlated. The bottleneck is input information, not model variety.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3600000"/>
            <a:ext cx="55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3552"/>
                </a:solidFill>
                <a:latin typeface="Calibri"/>
              </a:rPr>
              <a:t>Additional work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3960000"/>
            <a:ext cx="558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XGBoost + Stacking ensemble. </a:t>
            </a:r>
            <a:r>
              <a:rPr sz="1100">
                <a:solidFill>
                  <a:srgbClr val="1A3552"/>
                </a:solidFill>
                <a:latin typeface="Calibri"/>
              </a:rPr>
              <a:t>4th model family beyond brief minimum; tests whether base-model errors decorrelate enough to combine.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Diebold-Mariano test + per-segment MAE. </a:t>
            </a:r>
            <a:r>
              <a:rPr sz="1100">
                <a:solidFill>
                  <a:srgbClr val="1A3552"/>
                </a:solidFill>
                <a:latin typeface="Calibri"/>
              </a:rPr>
              <a:t>Shows the top three are statistically tied; surfaces peak-hour and October pain points that aggregate MAE hides.</a:t>
            </a:r>
          </a:p>
          <a:p>
            <a:pPr algn="l">
              <a:spcAft>
                <a:spcPts val="400"/>
              </a:spcAft>
            </a:pPr>
            <a:r>
              <a:rPr b="1" sz="1100">
                <a:solidFill>
                  <a:srgbClr val="1A3552"/>
                </a:solidFill>
                <a:latin typeface="Calibri"/>
              </a:rPr>
              <a:t>• Weather data integration. </a:t>
            </a:r>
            <a:r>
              <a:rPr sz="1100">
                <a:solidFill>
                  <a:srgbClr val="1A3552"/>
                </a:solidFill>
                <a:latin typeface="Calibri"/>
              </a:rPr>
              <a:t>Four free Paris-Montsouris columns reduce XGBoost MAE by 0.77%, concentrated on heating-season folds.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" y="6552000"/>
            <a:ext cx="115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555555"/>
                </a:solidFill>
                <a:latin typeface="Calibri"/>
              </a:rPr>
              <a:t>github.com/ThierryIshimwe/Energy-Forecasting  •  Brief: reports/Project_Work_Luiss_AI_Techniques_200326.pdf  •  Full analysis: notebooks/00_main_deliverable.ipynb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