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image" Target="../media/image-2-8.png"/><Relationship Id="rId9" Type="http://schemas.openxmlformats.org/officeDocument/2006/relationships/image" Target="../media/image-2-9.png"/><Relationship Id="rId10" Type="http://schemas.openxmlformats.org/officeDocument/2006/relationships/image" Target="../media/image-2-10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2A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" y="6222492"/>
            <a:ext cx="307838" cy="635508"/>
          </a:xfrm>
          <a:prstGeom prst="rect">
            <a:avLst/>
          </a:prstGeom>
          <a:solidFill>
            <a:srgbClr val="2E6F9E">
              <a:alpha val="11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417566" y="6264554"/>
            <a:ext cx="307838" cy="593446"/>
          </a:xfrm>
          <a:prstGeom prst="rect">
            <a:avLst/>
          </a:prstGeom>
          <a:solidFill>
            <a:srgbClr val="2E6F9E">
              <a:alpha val="11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798557" y="6285586"/>
            <a:ext cx="307838" cy="572414"/>
          </a:xfrm>
          <a:prstGeom prst="rect">
            <a:avLst/>
          </a:prstGeom>
          <a:solidFill>
            <a:srgbClr val="2E6F9E">
              <a:alpha val="11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179547" y="6306617"/>
            <a:ext cx="307838" cy="551383"/>
          </a:xfrm>
          <a:prstGeom prst="rect">
            <a:avLst/>
          </a:prstGeom>
          <a:solidFill>
            <a:srgbClr val="2E6F9E">
              <a:alpha val="11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560538" y="6317132"/>
            <a:ext cx="307838" cy="540868"/>
          </a:xfrm>
          <a:prstGeom prst="rect">
            <a:avLst/>
          </a:prstGeom>
          <a:solidFill>
            <a:srgbClr val="2E6F9E">
              <a:alpha val="11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941528" y="6285586"/>
            <a:ext cx="307838" cy="572414"/>
          </a:xfrm>
          <a:prstGeom prst="rect">
            <a:avLst/>
          </a:prstGeom>
          <a:solidFill>
            <a:srgbClr val="2E6F9E">
              <a:alpha val="11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2322519" y="6180430"/>
            <a:ext cx="307838" cy="677570"/>
          </a:xfrm>
          <a:prstGeom prst="rect">
            <a:avLst/>
          </a:prstGeom>
          <a:solidFill>
            <a:srgbClr val="2E6F9E">
              <a:alpha val="11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2703509" y="5991149"/>
            <a:ext cx="307838" cy="866851"/>
          </a:xfrm>
          <a:prstGeom prst="rect">
            <a:avLst/>
          </a:prstGeom>
          <a:solidFill>
            <a:srgbClr val="2E6F9E">
              <a:alpha val="11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3084500" y="5885993"/>
            <a:ext cx="307838" cy="972007"/>
          </a:xfrm>
          <a:prstGeom prst="rect">
            <a:avLst/>
          </a:prstGeom>
          <a:solidFill>
            <a:srgbClr val="2E6F9E">
              <a:alpha val="11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3465490" y="5959602"/>
            <a:ext cx="307838" cy="898398"/>
          </a:xfrm>
          <a:prstGeom prst="rect">
            <a:avLst/>
          </a:prstGeom>
          <a:solidFill>
            <a:srgbClr val="2E6F9E">
              <a:alpha val="11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3846481" y="6033211"/>
            <a:ext cx="307838" cy="824789"/>
          </a:xfrm>
          <a:prstGeom prst="rect">
            <a:avLst/>
          </a:prstGeom>
          <a:solidFill>
            <a:srgbClr val="2E6F9E">
              <a:alpha val="11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4227471" y="6054242"/>
            <a:ext cx="307838" cy="803758"/>
          </a:xfrm>
          <a:prstGeom prst="rect">
            <a:avLst/>
          </a:prstGeom>
          <a:solidFill>
            <a:srgbClr val="2E6F9E">
              <a:alpha val="11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4608462" y="6012180"/>
            <a:ext cx="307838" cy="845820"/>
          </a:xfrm>
          <a:prstGeom prst="rect">
            <a:avLst/>
          </a:prstGeom>
          <a:solidFill>
            <a:srgbClr val="2E6F9E">
              <a:alpha val="11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4989452" y="6043727"/>
            <a:ext cx="307838" cy="814273"/>
          </a:xfrm>
          <a:prstGeom prst="rect">
            <a:avLst/>
          </a:prstGeom>
          <a:solidFill>
            <a:srgbClr val="2E6F9E">
              <a:alpha val="11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5370443" y="6075274"/>
            <a:ext cx="307838" cy="782726"/>
          </a:xfrm>
          <a:prstGeom prst="rect">
            <a:avLst/>
          </a:prstGeom>
          <a:solidFill>
            <a:srgbClr val="2E6F9E">
              <a:alpha val="11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5751433" y="6054242"/>
            <a:ext cx="307838" cy="803758"/>
          </a:xfrm>
          <a:prstGeom prst="rect">
            <a:avLst/>
          </a:prstGeom>
          <a:solidFill>
            <a:srgbClr val="2E6F9E">
              <a:alpha val="11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6132424" y="5991149"/>
            <a:ext cx="307838" cy="866851"/>
          </a:xfrm>
          <a:prstGeom prst="rect">
            <a:avLst/>
          </a:prstGeom>
          <a:solidFill>
            <a:srgbClr val="2E6F9E">
              <a:alpha val="11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6513414" y="5843930"/>
            <a:ext cx="307838" cy="1014070"/>
          </a:xfrm>
          <a:prstGeom prst="rect">
            <a:avLst/>
          </a:prstGeom>
          <a:solidFill>
            <a:srgbClr val="2E6F9E">
              <a:alpha val="11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6894405" y="5633618"/>
            <a:ext cx="307838" cy="1224382"/>
          </a:xfrm>
          <a:prstGeom prst="rect">
            <a:avLst/>
          </a:prstGeom>
          <a:solidFill>
            <a:srgbClr val="2E6F9E">
              <a:alpha val="11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7275395" y="5570525"/>
            <a:ext cx="307838" cy="1287475"/>
          </a:xfrm>
          <a:prstGeom prst="rect">
            <a:avLst/>
          </a:prstGeom>
          <a:solidFill>
            <a:srgbClr val="2E6F9E">
              <a:alpha val="11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7656386" y="5665165"/>
            <a:ext cx="307838" cy="1192835"/>
          </a:xfrm>
          <a:prstGeom prst="rect">
            <a:avLst/>
          </a:prstGeom>
          <a:solidFill>
            <a:srgbClr val="2E6F9E">
              <a:alpha val="11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8037376" y="5822899"/>
            <a:ext cx="307838" cy="1035101"/>
          </a:xfrm>
          <a:prstGeom prst="rect">
            <a:avLst/>
          </a:prstGeom>
          <a:solidFill>
            <a:srgbClr val="2E6F9E">
              <a:alpha val="11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8418366" y="6012180"/>
            <a:ext cx="307838" cy="845820"/>
          </a:xfrm>
          <a:prstGeom prst="rect">
            <a:avLst/>
          </a:prstGeom>
          <a:solidFill>
            <a:srgbClr val="2E6F9E">
              <a:alpha val="11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8799357" y="6138367"/>
            <a:ext cx="307838" cy="719633"/>
          </a:xfrm>
          <a:prstGeom prst="rect">
            <a:avLst/>
          </a:prstGeom>
          <a:solidFill>
            <a:srgbClr val="2E6F9E">
              <a:alpha val="11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9180347" y="6222492"/>
            <a:ext cx="307838" cy="635508"/>
          </a:xfrm>
          <a:prstGeom prst="rect">
            <a:avLst/>
          </a:prstGeom>
          <a:solidFill>
            <a:srgbClr val="2E6F9E">
              <a:alpha val="11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9561338" y="6264554"/>
            <a:ext cx="307838" cy="593446"/>
          </a:xfrm>
          <a:prstGeom prst="rect">
            <a:avLst/>
          </a:prstGeom>
          <a:solidFill>
            <a:srgbClr val="2E6F9E">
              <a:alpha val="11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9942328" y="6285586"/>
            <a:ext cx="307838" cy="572414"/>
          </a:xfrm>
          <a:prstGeom prst="rect">
            <a:avLst/>
          </a:prstGeom>
          <a:solidFill>
            <a:srgbClr val="2E6F9E">
              <a:alpha val="11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10323319" y="6296101"/>
            <a:ext cx="307838" cy="561899"/>
          </a:xfrm>
          <a:prstGeom prst="rect">
            <a:avLst/>
          </a:prstGeom>
          <a:solidFill>
            <a:srgbClr val="2E6F9E">
              <a:alpha val="11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10704309" y="6275070"/>
            <a:ext cx="307838" cy="582930"/>
          </a:xfrm>
          <a:prstGeom prst="rect">
            <a:avLst/>
          </a:prstGeom>
          <a:solidFill>
            <a:srgbClr val="2E6F9E">
              <a:alpha val="11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11085300" y="6222492"/>
            <a:ext cx="307838" cy="635508"/>
          </a:xfrm>
          <a:prstGeom prst="rect">
            <a:avLst/>
          </a:prstGeom>
          <a:solidFill>
            <a:srgbClr val="2E6F9E">
              <a:alpha val="11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11466290" y="6096305"/>
            <a:ext cx="307838" cy="761695"/>
          </a:xfrm>
          <a:prstGeom prst="rect">
            <a:avLst/>
          </a:prstGeom>
          <a:solidFill>
            <a:srgbClr val="2E6F9E">
              <a:alpha val="11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11847281" y="5928055"/>
            <a:ext cx="307838" cy="929945"/>
          </a:xfrm>
          <a:prstGeom prst="rect">
            <a:avLst/>
          </a:prstGeom>
          <a:solidFill>
            <a:srgbClr val="2E6F9E">
              <a:alpha val="11000"/>
            </a:srgbClr>
          </a:solidFill>
          <a:ln/>
        </p:spPr>
      </p:sp>
      <p:sp>
        <p:nvSpPr>
          <p:cNvPr id="34" name="Text 32"/>
          <p:cNvSpPr/>
          <p:nvPr/>
        </p:nvSpPr>
        <p:spPr>
          <a:xfrm>
            <a:off x="640080" y="4754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6E8CA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ENEL GLOBAL ICT      RESIDENTIAL LOAD FORECASTING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7894015" y="47548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150" kern="0" dirty="0">
                <a:solidFill>
                  <a:srgbClr val="6E8CA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TECHNICAL PROJECT  ·  MAY 2026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640080" y="1417320"/>
            <a:ext cx="708660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37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Forecasting Hourly Household Electricity Consumption</a:t>
            </a:r>
            <a:endParaRPr lang="en-US" sz="3700" dirty="0"/>
          </a:p>
        </p:txBody>
      </p:sp>
      <p:sp>
        <p:nvSpPr>
          <p:cNvPr id="37" name="Text 35"/>
          <p:cNvSpPr/>
          <p:nvPr/>
        </p:nvSpPr>
        <p:spPr>
          <a:xfrm>
            <a:off x="640080" y="3611880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i="1" dirty="0">
                <a:solidFill>
                  <a:srgbClr val="CFE0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leakage-safe pipeline that compares four model families on one honest protocol.</a:t>
            </a:r>
            <a:endParaRPr lang="en-US" sz="1650" dirty="0"/>
          </a:p>
        </p:txBody>
      </p:sp>
      <p:sp>
        <p:nvSpPr>
          <p:cNvPr id="38" name="Text 36"/>
          <p:cNvSpPr/>
          <p:nvPr/>
        </p:nvSpPr>
        <p:spPr>
          <a:xfrm>
            <a:off x="640080" y="4498848"/>
            <a:ext cx="6858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E8CA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BUILT FOR ENEL'S THREE OPERATIONAL PRIORITIES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640080" y="4791456"/>
            <a:ext cx="1143000" cy="420624"/>
          </a:xfrm>
          <a:prstGeom prst="roundRect">
            <a:avLst>
              <a:gd name="adj" fmla="val 50000"/>
            </a:avLst>
          </a:prstGeom>
          <a:solidFill>
            <a:srgbClr val="1B3A59"/>
          </a:solidFill>
          <a:ln w="12700">
            <a:solidFill>
              <a:srgbClr val="2A4C6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40080" y="4791456"/>
            <a:ext cx="1143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FE0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1984248" y="4791456"/>
            <a:ext cx="1828800" cy="420624"/>
          </a:xfrm>
          <a:prstGeom prst="roundRect">
            <a:avLst>
              <a:gd name="adj" fmla="val 50000"/>
            </a:avLst>
          </a:prstGeom>
          <a:solidFill>
            <a:srgbClr val="1B3A59"/>
          </a:solidFill>
          <a:ln w="12700">
            <a:solidFill>
              <a:srgbClr val="2A4C6E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1984248" y="4791456"/>
            <a:ext cx="1828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FE0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Grid stability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4014216" y="4791456"/>
            <a:ext cx="1965960" cy="420624"/>
          </a:xfrm>
          <a:prstGeom prst="roundRect">
            <a:avLst>
              <a:gd name="adj" fmla="val 50000"/>
            </a:avLst>
          </a:prstGeom>
          <a:solidFill>
            <a:srgbClr val="1B3A59"/>
          </a:solidFill>
          <a:ln w="12700">
            <a:solidFill>
              <a:srgbClr val="2A4C6E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014216" y="4791456"/>
            <a:ext cx="1965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FE0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Sustainability</a:t>
            </a:r>
            <a:endParaRPr lang="en-US" sz="1200" dirty="0"/>
          </a:p>
        </p:txBody>
      </p:sp>
      <p:sp>
        <p:nvSpPr>
          <p:cNvPr id="45" name="Text 43"/>
          <p:cNvSpPr/>
          <p:nvPr/>
        </p:nvSpPr>
        <p:spPr>
          <a:xfrm>
            <a:off x="640080" y="5532120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E8CA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PROJECT TEAM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640080" y="5779008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Thierry Ishimwe </a:t>
            </a:r>
            <a:pPr indent="0" marL="0">
              <a:buNone/>
            </a:pPr>
            <a:r>
              <a:rPr lang="en-US" sz="1150" i="1" dirty="0">
                <a:solidFill>
                  <a:srgbClr val="7E97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delegate</a:t>
            </a:r>
            <a:pPr indent="0" marL="0">
              <a:buNone/>
            </a:pPr>
            <a:r>
              <a:rPr lang="en-US" sz="1150" dirty="0">
                <a:solidFill>
                  <a:srgbClr val="B9C7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·    Linda Carla Zorzoli    ·    Cesar Dushimimana    ·    Mariavittoria Giurato</a:t>
            </a:r>
            <a:endParaRPr lang="en-US" sz="1150" dirty="0"/>
          </a:p>
        </p:txBody>
      </p:sp>
      <p:sp>
        <p:nvSpPr>
          <p:cNvPr id="47" name="Text 45"/>
          <p:cNvSpPr/>
          <p:nvPr/>
        </p:nvSpPr>
        <p:spPr>
          <a:xfrm>
            <a:off x="640080" y="619963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LUISS Guido Carli   ·   Artificial Intelligence Techniques   ·   Industry partner: Enel Global ICT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8229600" y="1481328"/>
            <a:ext cx="3319272" cy="1371600"/>
          </a:xfrm>
          <a:prstGeom prst="roundRect">
            <a:avLst>
              <a:gd name="adj" fmla="val 4667"/>
            </a:avLst>
          </a:prstGeom>
          <a:solidFill>
            <a:srgbClr val="16324E"/>
          </a:solidFill>
          <a:ln w="12700">
            <a:solidFill>
              <a:srgbClr val="2A4C6E"/>
            </a:solidFill>
            <a:prstDash val="solid"/>
          </a:ln>
          <a:effectLst>
            <a:outerShdw sx="100000" sy="100000" kx="0" ky="0" algn="bl" rotWithShape="0" blurRad="114300" dist="38100" dir="5400000">
              <a:srgbClr val="0B1A2C">
                <a:alpha val="16000"/>
              </a:srgbClr>
            </a:outerShdw>
          </a:effectLst>
        </p:spPr>
      </p:sp>
      <p:sp>
        <p:nvSpPr>
          <p:cNvPr id="49" name="Shape 47"/>
          <p:cNvSpPr/>
          <p:nvPr/>
        </p:nvSpPr>
        <p:spPr>
          <a:xfrm>
            <a:off x="8229600" y="1682496"/>
            <a:ext cx="64008" cy="969264"/>
          </a:xfrm>
          <a:prstGeom prst="rect">
            <a:avLst/>
          </a:prstGeom>
          <a:solidFill>
            <a:srgbClr val="4FA3D1"/>
          </a:solidFill>
          <a:ln/>
        </p:spPr>
      </p:sp>
      <p:sp>
        <p:nvSpPr>
          <p:cNvPr id="50" name="Text 48"/>
          <p:cNvSpPr/>
          <p:nvPr/>
        </p:nvSpPr>
        <p:spPr>
          <a:xfrm>
            <a:off x="8467344" y="1627632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4FA3D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0.337 kW</a:t>
            </a:r>
            <a:endParaRPr lang="en-US" sz="3100" dirty="0"/>
          </a:p>
        </p:txBody>
      </p:sp>
      <p:sp>
        <p:nvSpPr>
          <p:cNvPr id="51" name="Text 49"/>
          <p:cNvSpPr/>
          <p:nvPr/>
        </p:nvSpPr>
        <p:spPr>
          <a:xfrm>
            <a:off x="8485632" y="2157984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Cross-fold mean MAE</a:t>
            </a:r>
            <a:endParaRPr lang="en-US" sz="1250" dirty="0"/>
          </a:p>
        </p:txBody>
      </p:sp>
      <p:sp>
        <p:nvSpPr>
          <p:cNvPr id="52" name="Text 50"/>
          <p:cNvSpPr/>
          <p:nvPr/>
        </p:nvSpPr>
        <p:spPr>
          <a:xfrm>
            <a:off x="8485632" y="2414016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DB2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Leakage-safe XGBoost — lower is better</a:t>
            </a:r>
            <a:endParaRPr lang="en-US" sz="950" dirty="0"/>
          </a:p>
        </p:txBody>
      </p:sp>
      <p:sp>
        <p:nvSpPr>
          <p:cNvPr id="53" name="Shape 51"/>
          <p:cNvSpPr/>
          <p:nvPr/>
        </p:nvSpPr>
        <p:spPr>
          <a:xfrm>
            <a:off x="8229600" y="3035808"/>
            <a:ext cx="3319272" cy="1371600"/>
          </a:xfrm>
          <a:prstGeom prst="roundRect">
            <a:avLst>
              <a:gd name="adj" fmla="val 4667"/>
            </a:avLst>
          </a:prstGeom>
          <a:solidFill>
            <a:srgbClr val="16324E"/>
          </a:solidFill>
          <a:ln w="12700">
            <a:solidFill>
              <a:srgbClr val="2A4C6E"/>
            </a:solidFill>
            <a:prstDash val="solid"/>
          </a:ln>
          <a:effectLst>
            <a:outerShdw sx="100000" sy="100000" kx="0" ky="0" algn="bl" rotWithShape="0" blurRad="114300" dist="38100" dir="5400000">
              <a:srgbClr val="0B1A2C">
                <a:alpha val="16000"/>
              </a:srgbClr>
            </a:outerShdw>
          </a:effectLst>
        </p:spPr>
      </p:sp>
      <p:sp>
        <p:nvSpPr>
          <p:cNvPr id="54" name="Shape 52"/>
          <p:cNvSpPr/>
          <p:nvPr/>
        </p:nvSpPr>
        <p:spPr>
          <a:xfrm>
            <a:off x="8229600" y="3236976"/>
            <a:ext cx="64008" cy="969264"/>
          </a:xfrm>
          <a:prstGeom prst="rect">
            <a:avLst/>
          </a:prstGeom>
          <a:solidFill>
            <a:srgbClr val="4BA877"/>
          </a:solidFill>
          <a:ln/>
        </p:spPr>
      </p:sp>
      <p:sp>
        <p:nvSpPr>
          <p:cNvPr id="55" name="Text 53"/>
          <p:cNvSpPr/>
          <p:nvPr/>
        </p:nvSpPr>
        <p:spPr>
          <a:xfrm>
            <a:off x="8467344" y="3182112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4BA87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−0.77%</a:t>
            </a:r>
            <a:endParaRPr lang="en-US" sz="3100" dirty="0"/>
          </a:p>
        </p:txBody>
      </p:sp>
      <p:sp>
        <p:nvSpPr>
          <p:cNvPr id="56" name="Text 54"/>
          <p:cNvSpPr/>
          <p:nvPr/>
        </p:nvSpPr>
        <p:spPr>
          <a:xfrm>
            <a:off x="8485632" y="3712464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MAE from free weather data</a:t>
            </a:r>
            <a:endParaRPr lang="en-US" sz="1250" dirty="0"/>
          </a:p>
        </p:txBody>
      </p:sp>
      <p:sp>
        <p:nvSpPr>
          <p:cNvPr id="57" name="Text 55"/>
          <p:cNvSpPr/>
          <p:nvPr/>
        </p:nvSpPr>
        <p:spPr>
          <a:xfrm>
            <a:off x="8485632" y="3968496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DB2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Gain concentrated on heating-season folds</a:t>
            </a:r>
            <a:endParaRPr lang="en-US" sz="950" dirty="0"/>
          </a:p>
        </p:txBody>
      </p:sp>
      <p:sp>
        <p:nvSpPr>
          <p:cNvPr id="58" name="Shape 56"/>
          <p:cNvSpPr/>
          <p:nvPr/>
        </p:nvSpPr>
        <p:spPr>
          <a:xfrm>
            <a:off x="8229600" y="4590288"/>
            <a:ext cx="3319272" cy="1371600"/>
          </a:xfrm>
          <a:prstGeom prst="roundRect">
            <a:avLst>
              <a:gd name="adj" fmla="val 4667"/>
            </a:avLst>
          </a:prstGeom>
          <a:solidFill>
            <a:srgbClr val="16324E"/>
          </a:solidFill>
          <a:ln w="12700">
            <a:solidFill>
              <a:srgbClr val="2A4C6E"/>
            </a:solidFill>
            <a:prstDash val="solid"/>
          </a:ln>
          <a:effectLst>
            <a:outerShdw sx="100000" sy="100000" kx="0" ky="0" algn="bl" rotWithShape="0" blurRad="114300" dist="38100" dir="5400000">
              <a:srgbClr val="0B1A2C">
                <a:alpha val="16000"/>
              </a:srgbClr>
            </a:outerShdw>
          </a:effectLst>
        </p:spPr>
      </p:sp>
      <p:sp>
        <p:nvSpPr>
          <p:cNvPr id="59" name="Shape 57"/>
          <p:cNvSpPr/>
          <p:nvPr/>
        </p:nvSpPr>
        <p:spPr>
          <a:xfrm>
            <a:off x="8229600" y="4791456"/>
            <a:ext cx="64008" cy="969264"/>
          </a:xfrm>
          <a:prstGeom prst="rect">
            <a:avLst/>
          </a:prstGeom>
          <a:solidFill>
            <a:srgbClr val="E0A24A"/>
          </a:solidFill>
          <a:ln/>
        </p:spPr>
      </p:sp>
      <p:sp>
        <p:nvSpPr>
          <p:cNvPr id="60" name="Text 58"/>
          <p:cNvSpPr/>
          <p:nvPr/>
        </p:nvSpPr>
        <p:spPr>
          <a:xfrm>
            <a:off x="8467344" y="4736592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E0A2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 families</a:t>
            </a:r>
            <a:endParaRPr lang="en-US" sz="3100" dirty="0"/>
          </a:p>
        </p:txBody>
      </p:sp>
      <p:sp>
        <p:nvSpPr>
          <p:cNvPr id="61" name="Text 59"/>
          <p:cNvSpPr/>
          <p:nvPr/>
        </p:nvSpPr>
        <p:spPr>
          <a:xfrm>
            <a:off x="8485632" y="5266944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Compared head-to-head</a:t>
            </a:r>
            <a:endParaRPr lang="en-US" sz="1250" dirty="0"/>
          </a:p>
        </p:txBody>
      </p:sp>
      <p:sp>
        <p:nvSpPr>
          <p:cNvPr id="62" name="Text 60"/>
          <p:cNvSpPr/>
          <p:nvPr/>
        </p:nvSpPr>
        <p:spPr>
          <a:xfrm>
            <a:off x="8485632" y="5522976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DB2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SARIMA · LSTM · GRU · XGBoost — one protocol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2E6F9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01      THE CHALLENGE &amp; OUR APPROACH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73152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C263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problem — and how we approached it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10637215" y="4572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00" kern="0" dirty="0">
                <a:solidFill>
                  <a:srgbClr val="9AA7B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02</a:t>
            </a:r>
            <a:pPr algn="r" indent="0" marL="0">
              <a:buNone/>
            </a:pPr>
            <a:r>
              <a:rPr lang="en-US" sz="1000" spc="100" kern="0" dirty="0">
                <a:solidFill>
                  <a:srgbClr val="9AA7B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/  04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40080" y="1298448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E6A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Residential electricity demand is volatile, weather-driven, and worth forecasting accurately — for cost, grid stability, and renewable integration.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" y="1874520"/>
            <a:ext cx="5321808" cy="3977640"/>
          </a:xfrm>
          <a:prstGeom prst="roundRect">
            <a:avLst>
              <a:gd name="adj" fmla="val 1839"/>
            </a:avLst>
          </a:prstGeom>
          <a:solidFill>
            <a:srgbClr val="FFFFFF"/>
          </a:solidFill>
          <a:ln w="12700">
            <a:solidFill>
              <a:srgbClr val="E2E8EE"/>
            </a:solidFill>
            <a:prstDash val="solid"/>
          </a:ln>
          <a:effectLst>
            <a:outerShdw sx="100000" sy="100000" kx="0" ky="0" algn="bl" rotWithShape="0" blurRad="88900" dist="25400" dir="5400000">
              <a:srgbClr val="1C263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50976" y="2167128"/>
            <a:ext cx="457200" cy="457200"/>
          </a:xfrm>
          <a:prstGeom prst="ellipse">
            <a:avLst/>
          </a:prstGeom>
          <a:solidFill>
            <a:srgbClr val="C6792F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1560" y="2267712"/>
            <a:ext cx="256032" cy="256032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554480" y="2167128"/>
            <a:ext cx="42245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rgbClr val="C6792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CHALLENGE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950976" y="2770632"/>
            <a:ext cx="4700016" cy="0"/>
          </a:xfrm>
          <a:prstGeom prst="line">
            <a:avLst/>
          </a:prstGeom>
          <a:noFill/>
          <a:ln w="12700">
            <a:solidFill>
              <a:srgbClr val="E7ECF1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969264" y="2953512"/>
            <a:ext cx="384048" cy="384048"/>
          </a:xfrm>
          <a:prstGeom prst="ellipse">
            <a:avLst/>
          </a:prstGeom>
          <a:solidFill>
            <a:srgbClr val="F5E6D4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" y="3040380"/>
            <a:ext cx="210312" cy="210312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1527048" y="2862072"/>
            <a:ext cx="415137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7000"/>
              </a:lnSpc>
              <a:buNone/>
            </a:pPr>
            <a:r>
              <a:rPr lang="en-US" sz="1100" b="1" dirty="0">
                <a:solidFill>
                  <a:srgbClr val="1C26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Volatile signal  </a:t>
            </a:r>
            <a:pPr indent="0" marL="0">
              <a:lnSpc>
                <a:spcPct val="107000"/>
              </a:lnSpc>
              <a:buNone/>
            </a:pPr>
            <a:r>
              <a:rPr lang="en-US" sz="1100" dirty="0">
                <a:solidFill>
                  <a:srgbClr val="5E6A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Hourly load swings ~2.5× between overnight lows and the 18–21h peak; errors compound into imbalance-market penalties.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969264" y="3685032"/>
            <a:ext cx="384048" cy="384048"/>
          </a:xfrm>
          <a:prstGeom prst="ellipse">
            <a:avLst/>
          </a:prstGeom>
          <a:solidFill>
            <a:srgbClr val="F5E6D4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6132" y="3771900"/>
            <a:ext cx="210312" cy="210312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1527048" y="3593592"/>
            <a:ext cx="415137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7000"/>
              </a:lnSpc>
              <a:buNone/>
            </a:pPr>
            <a:r>
              <a:rPr lang="en-US" sz="1100" b="1" dirty="0">
                <a:solidFill>
                  <a:srgbClr val="1C26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Heavy weather coupling  </a:t>
            </a:r>
            <a:pPr indent="0" marL="0">
              <a:lnSpc>
                <a:spcPct val="107000"/>
              </a:lnSpc>
              <a:buNone/>
            </a:pPr>
            <a:r>
              <a:rPr lang="en-US" sz="1100" dirty="0">
                <a:solidFill>
                  <a:srgbClr val="5E6A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~30% of French homes heat with electricity; the October heating ramp lifts consumption 40–60% over September.</a:t>
            </a:r>
            <a:endParaRPr lang="en-US" sz="1100" dirty="0"/>
          </a:p>
        </p:txBody>
      </p:sp>
      <p:sp>
        <p:nvSpPr>
          <p:cNvPr id="17" name="Shape 12"/>
          <p:cNvSpPr/>
          <p:nvPr/>
        </p:nvSpPr>
        <p:spPr>
          <a:xfrm>
            <a:off x="969264" y="4416552"/>
            <a:ext cx="384048" cy="384048"/>
          </a:xfrm>
          <a:prstGeom prst="ellipse">
            <a:avLst/>
          </a:prstGeom>
          <a:solidFill>
            <a:srgbClr val="F5E6D4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6132" y="4503420"/>
            <a:ext cx="210312" cy="210312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1527048" y="4325112"/>
            <a:ext cx="415137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7000"/>
              </a:lnSpc>
              <a:buNone/>
            </a:pPr>
            <a:r>
              <a:rPr lang="en-US" sz="1100" b="1" dirty="0">
                <a:solidFill>
                  <a:srgbClr val="1C26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Hidden leakage traps  </a:t>
            </a:r>
            <a:pPr indent="0" marL="0">
              <a:lnSpc>
                <a:spcPct val="107000"/>
              </a:lnSpc>
              <a:buNone/>
            </a:pPr>
            <a:r>
              <a:rPr lang="en-US" sz="1100" dirty="0">
                <a:solidFill>
                  <a:srgbClr val="5E6A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Same-timestamp meter readings can reconstruct the target (P = V·I) — a careless model learns identity, not a forecast.</a:t>
            </a:r>
            <a:endParaRPr lang="en-US" sz="1100" dirty="0"/>
          </a:p>
        </p:txBody>
      </p:sp>
      <p:sp>
        <p:nvSpPr>
          <p:cNvPr id="20" name="Shape 14"/>
          <p:cNvSpPr/>
          <p:nvPr/>
        </p:nvSpPr>
        <p:spPr>
          <a:xfrm>
            <a:off x="969264" y="5148072"/>
            <a:ext cx="384048" cy="384048"/>
          </a:xfrm>
          <a:prstGeom prst="ellipse">
            <a:avLst/>
          </a:prstGeom>
          <a:solidFill>
            <a:srgbClr val="F5E6D4"/>
          </a:solidFill>
          <a:ln/>
        </p:spPr>
      </p:sp>
      <p:pic>
        <p:nvPicPr>
          <p:cNvPr id="2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56132" y="5234940"/>
            <a:ext cx="210312" cy="210312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1527048" y="5056632"/>
            <a:ext cx="415137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7000"/>
              </a:lnSpc>
              <a:buNone/>
            </a:pPr>
            <a:r>
              <a:rPr lang="en-US" sz="1100" b="1" dirty="0">
                <a:solidFill>
                  <a:srgbClr val="1C26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Structural missingness  </a:t>
            </a:r>
            <a:pPr indent="0" marL="0">
              <a:lnSpc>
                <a:spcPct val="107000"/>
              </a:lnSpc>
              <a:buNone/>
            </a:pPr>
            <a:r>
              <a:rPr lang="en-US" sz="1100" dirty="0">
                <a:solidFill>
                  <a:srgbClr val="5E6A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1.25% of rows missing, in two distinct modes: 54 short sensor blips and 17 multi-day outages (longest: 5 days).</a:t>
            </a:r>
            <a:endParaRPr lang="en-US" sz="1100" dirty="0"/>
          </a:p>
        </p:txBody>
      </p:sp>
      <p:sp>
        <p:nvSpPr>
          <p:cNvPr id="23" name="Shape 16"/>
          <p:cNvSpPr/>
          <p:nvPr/>
        </p:nvSpPr>
        <p:spPr>
          <a:xfrm>
            <a:off x="6236208" y="1874520"/>
            <a:ext cx="5321808" cy="3977640"/>
          </a:xfrm>
          <a:prstGeom prst="roundRect">
            <a:avLst>
              <a:gd name="adj" fmla="val 1839"/>
            </a:avLst>
          </a:prstGeom>
          <a:solidFill>
            <a:srgbClr val="FFFFFF"/>
          </a:solidFill>
          <a:ln w="12700">
            <a:solidFill>
              <a:srgbClr val="E2E8EE"/>
            </a:solidFill>
            <a:prstDash val="solid"/>
          </a:ln>
          <a:effectLst>
            <a:outerShdw sx="100000" sy="100000" kx="0" ky="0" algn="bl" rotWithShape="0" blurRad="88900" dist="25400" dir="5400000">
              <a:srgbClr val="1C2630">
                <a:alpha val="10000"/>
              </a:srgbClr>
            </a:outerShdw>
          </a:effectLst>
        </p:spPr>
      </p:sp>
      <p:sp>
        <p:nvSpPr>
          <p:cNvPr id="24" name="Shape 17"/>
          <p:cNvSpPr/>
          <p:nvPr/>
        </p:nvSpPr>
        <p:spPr>
          <a:xfrm>
            <a:off x="6547104" y="2167128"/>
            <a:ext cx="457200" cy="457200"/>
          </a:xfrm>
          <a:prstGeom prst="ellipse">
            <a:avLst/>
          </a:prstGeom>
          <a:solidFill>
            <a:srgbClr val="2F8559"/>
          </a:solidFill>
          <a:ln/>
        </p:spPr>
      </p:sp>
      <p:pic>
        <p:nvPicPr>
          <p:cNvPr id="25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47688" y="2267712"/>
            <a:ext cx="256032" cy="256032"/>
          </a:xfrm>
          <a:prstGeom prst="rect">
            <a:avLst/>
          </a:prstGeom>
        </p:spPr>
      </p:pic>
      <p:sp>
        <p:nvSpPr>
          <p:cNvPr id="26" name="Text 18"/>
          <p:cNvSpPr/>
          <p:nvPr/>
        </p:nvSpPr>
        <p:spPr>
          <a:xfrm>
            <a:off x="7150608" y="2167128"/>
            <a:ext cx="42245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rgbClr val="2F855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OUR APPROACH</a:t>
            </a:r>
            <a:endParaRPr lang="en-US" sz="1500" dirty="0"/>
          </a:p>
        </p:txBody>
      </p:sp>
      <p:sp>
        <p:nvSpPr>
          <p:cNvPr id="27" name="Shape 19"/>
          <p:cNvSpPr/>
          <p:nvPr/>
        </p:nvSpPr>
        <p:spPr>
          <a:xfrm>
            <a:off x="6547104" y="2770632"/>
            <a:ext cx="4700016" cy="0"/>
          </a:xfrm>
          <a:prstGeom prst="line">
            <a:avLst/>
          </a:prstGeom>
          <a:noFill/>
          <a:ln w="12700">
            <a:solidFill>
              <a:srgbClr val="E7ECF1"/>
            </a:solidFill>
            <a:prstDash val="solid"/>
          </a:ln>
        </p:spPr>
      </p:sp>
      <p:sp>
        <p:nvSpPr>
          <p:cNvPr id="28" name="Shape 20"/>
          <p:cNvSpPr/>
          <p:nvPr/>
        </p:nvSpPr>
        <p:spPr>
          <a:xfrm>
            <a:off x="6565392" y="2953512"/>
            <a:ext cx="384048" cy="384048"/>
          </a:xfrm>
          <a:prstGeom prst="ellipse">
            <a:avLst/>
          </a:prstGeom>
          <a:solidFill>
            <a:srgbClr val="DCEFE4"/>
          </a:solidFill>
          <a:ln/>
        </p:spPr>
      </p:sp>
      <p:pic>
        <p:nvPicPr>
          <p:cNvPr id="29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52260" y="3040380"/>
            <a:ext cx="210312" cy="210312"/>
          </a:xfrm>
          <a:prstGeom prst="rect">
            <a:avLst/>
          </a:prstGeom>
        </p:spPr>
      </p:pic>
      <p:sp>
        <p:nvSpPr>
          <p:cNvPr id="30" name="Text 21"/>
          <p:cNvSpPr/>
          <p:nvPr/>
        </p:nvSpPr>
        <p:spPr>
          <a:xfrm>
            <a:off x="7123176" y="2862072"/>
            <a:ext cx="415137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7000"/>
              </a:lnSpc>
              <a:buNone/>
            </a:pPr>
            <a:r>
              <a:rPr lang="en-US" sz="1100" b="1" dirty="0">
                <a:solidFill>
                  <a:srgbClr val="1C26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Leakage-safe by construction  </a:t>
            </a:r>
            <a:pPr indent="0" marL="0">
              <a:lnSpc>
                <a:spcPct val="107000"/>
              </a:lnSpc>
              <a:buNone/>
            </a:pPr>
            <a:r>
              <a:rPr lang="en-US" sz="1100" dirty="0">
                <a:solidFill>
                  <a:srgbClr val="5E6A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feature registry blocks same-timestamp components of the target; imputation is past-only; two tests guard both policies.</a:t>
            </a:r>
            <a:endParaRPr lang="en-US" sz="1100" dirty="0"/>
          </a:p>
        </p:txBody>
      </p:sp>
      <p:sp>
        <p:nvSpPr>
          <p:cNvPr id="31" name="Shape 22"/>
          <p:cNvSpPr/>
          <p:nvPr/>
        </p:nvSpPr>
        <p:spPr>
          <a:xfrm>
            <a:off x="6565392" y="3685032"/>
            <a:ext cx="384048" cy="384048"/>
          </a:xfrm>
          <a:prstGeom prst="ellipse">
            <a:avLst/>
          </a:prstGeom>
          <a:solidFill>
            <a:srgbClr val="DCEFE4"/>
          </a:solidFill>
          <a:ln/>
        </p:spPr>
      </p:sp>
      <p:pic>
        <p:nvPicPr>
          <p:cNvPr id="32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52260" y="3771900"/>
            <a:ext cx="210312" cy="210312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7123176" y="3593592"/>
            <a:ext cx="415137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7000"/>
              </a:lnSpc>
              <a:buNone/>
            </a:pPr>
            <a:r>
              <a:rPr lang="en-US" sz="1100" b="1" dirty="0">
                <a:solidFill>
                  <a:srgbClr val="1C26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model families compared  </a:t>
            </a:r>
            <a:pPr indent="0" marL="0">
              <a:lnSpc>
                <a:spcPct val="107000"/>
              </a:lnSpc>
              <a:buNone/>
            </a:pPr>
            <a:r>
              <a:rPr lang="en-US" sz="1100" dirty="0">
                <a:solidFill>
                  <a:srgbClr val="5E6A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SARIMA, LSTM &amp; GRU, and XGBoost — plus three naive baselines as the floor — all on one uniform protocol.</a:t>
            </a:r>
            <a:endParaRPr lang="en-US" sz="1100" dirty="0"/>
          </a:p>
        </p:txBody>
      </p:sp>
      <p:sp>
        <p:nvSpPr>
          <p:cNvPr id="34" name="Shape 24"/>
          <p:cNvSpPr/>
          <p:nvPr/>
        </p:nvSpPr>
        <p:spPr>
          <a:xfrm>
            <a:off x="6565392" y="4416552"/>
            <a:ext cx="384048" cy="384048"/>
          </a:xfrm>
          <a:prstGeom prst="ellipse">
            <a:avLst/>
          </a:prstGeom>
          <a:solidFill>
            <a:srgbClr val="DCEFE4"/>
          </a:solidFill>
          <a:ln/>
        </p:spPr>
      </p:sp>
      <p:pic>
        <p:nvPicPr>
          <p:cNvPr id="35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652260" y="4503420"/>
            <a:ext cx="210312" cy="210312"/>
          </a:xfrm>
          <a:prstGeom prst="rect">
            <a:avLst/>
          </a:prstGeom>
        </p:spPr>
      </p:pic>
      <p:sp>
        <p:nvSpPr>
          <p:cNvPr id="36" name="Text 25"/>
          <p:cNvSpPr/>
          <p:nvPr/>
        </p:nvSpPr>
        <p:spPr>
          <a:xfrm>
            <a:off x="7123176" y="4325112"/>
            <a:ext cx="415137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7000"/>
              </a:lnSpc>
              <a:buNone/>
            </a:pPr>
            <a:r>
              <a:rPr lang="en-US" sz="1100" b="1" dirty="0">
                <a:solidFill>
                  <a:srgbClr val="1C26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 evaluation  </a:t>
            </a:r>
            <a:pPr indent="0" marL="0">
              <a:lnSpc>
                <a:spcPct val="107000"/>
              </a:lnSpc>
              <a:buNone/>
            </a:pPr>
            <a:r>
              <a:rPr lang="en-US" sz="1100" dirty="0">
                <a:solidFill>
                  <a:srgbClr val="5E6A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Rolling-origin CV (6 folds × 30-day windows); a Diebold–Mariano test on 4,100+ predictions checks the leaderboard order.</a:t>
            </a:r>
            <a:endParaRPr lang="en-US" sz="1100" dirty="0"/>
          </a:p>
        </p:txBody>
      </p:sp>
      <p:sp>
        <p:nvSpPr>
          <p:cNvPr id="37" name="Shape 26"/>
          <p:cNvSpPr/>
          <p:nvPr/>
        </p:nvSpPr>
        <p:spPr>
          <a:xfrm>
            <a:off x="6565392" y="5148072"/>
            <a:ext cx="384048" cy="384048"/>
          </a:xfrm>
          <a:prstGeom prst="ellipse">
            <a:avLst/>
          </a:prstGeom>
          <a:solidFill>
            <a:srgbClr val="DCEFE4"/>
          </a:solidFill>
          <a:ln/>
        </p:spPr>
      </p:sp>
      <p:pic>
        <p:nvPicPr>
          <p:cNvPr id="38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652260" y="5234940"/>
            <a:ext cx="210312" cy="210312"/>
          </a:xfrm>
          <a:prstGeom prst="rect">
            <a:avLst/>
          </a:prstGeom>
        </p:spPr>
      </p:pic>
      <p:sp>
        <p:nvSpPr>
          <p:cNvPr id="39" name="Text 27"/>
          <p:cNvSpPr/>
          <p:nvPr/>
        </p:nvSpPr>
        <p:spPr>
          <a:xfrm>
            <a:off x="7123176" y="5056632"/>
            <a:ext cx="415137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7000"/>
              </a:lnSpc>
              <a:buNone/>
            </a:pPr>
            <a:r>
              <a:rPr lang="en-US" sz="1100" b="1" dirty="0">
                <a:solidFill>
                  <a:srgbClr val="1C26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External value-add  </a:t>
            </a:r>
            <a:pPr indent="0" marL="0">
              <a:lnSpc>
                <a:spcPct val="107000"/>
              </a:lnSpc>
              <a:buNone/>
            </a:pPr>
            <a:r>
              <a:rPr lang="en-US" sz="1100" dirty="0">
                <a:solidFill>
                  <a:srgbClr val="5E6A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Paris–Montsouris weather integration, a ridge stacking ensemble, and an interactive Streamlit dashboard.</a:t>
            </a:r>
            <a:endParaRPr lang="en-US" sz="1100" dirty="0"/>
          </a:p>
        </p:txBody>
      </p:sp>
      <p:sp>
        <p:nvSpPr>
          <p:cNvPr id="40" name="Text 28"/>
          <p:cNvSpPr/>
          <p:nvPr/>
        </p:nvSpPr>
        <p:spPr>
          <a:xfrm>
            <a:off x="640080" y="6053328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8A95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 — UCI Individual Household Electric Power Consumption   ·   Sceaux, Paris   ·   47 months   ·   34,000 hourly observations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2E6F9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02      WHAT WE FOUND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73152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C263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Every real model beats persistence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10637215" y="4572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00" kern="0" dirty="0">
                <a:solidFill>
                  <a:srgbClr val="9AA7B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03</a:t>
            </a:r>
            <a:pPr algn="r" indent="0" marL="0">
              <a:buNone/>
            </a:pPr>
            <a:r>
              <a:rPr lang="en-US" sz="1000" spc="100" kern="0" dirty="0">
                <a:solidFill>
                  <a:srgbClr val="9AA7B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/  04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40080" y="128016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E6A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model families measured on the same leaderboard — and the top three are a statistical tie.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5943600" cy="4206240"/>
          </a:xfrm>
          <a:prstGeom prst="roundRect">
            <a:avLst>
              <a:gd name="adj" fmla="val 1522"/>
            </a:avLst>
          </a:prstGeom>
          <a:solidFill>
            <a:srgbClr val="FFFFFF"/>
          </a:solidFill>
          <a:ln w="12700">
            <a:solidFill>
              <a:srgbClr val="E2E8EE"/>
            </a:solidFill>
            <a:prstDash val="solid"/>
          </a:ln>
          <a:effectLst>
            <a:outerShdw sx="100000" sy="100000" kx="0" ky="0" algn="bl" rotWithShape="0" blurRad="88900" dist="25400" dir="5400000">
              <a:srgbClr val="1C2630">
                <a:alpha val="1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932688" y="2002536"/>
            <a:ext cx="5394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C263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Cross-fold mean MAE  —  lower is better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932688" y="2295144"/>
            <a:ext cx="5394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E6A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kilowatts · averaged over six rolling-origin folds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4672269" y="2697480"/>
            <a:ext cx="0" cy="2706624"/>
          </a:xfrm>
          <a:prstGeom prst="line">
            <a:avLst/>
          </a:prstGeom>
          <a:noFill/>
          <a:ln w="12700">
            <a:solidFill>
              <a:srgbClr val="A9B6C2"/>
            </a:solidFill>
            <a:prstDash val="dash"/>
          </a:ln>
        </p:spPr>
      </p:sp>
      <p:sp>
        <p:nvSpPr>
          <p:cNvPr id="10" name="Text 8"/>
          <p:cNvSpPr/>
          <p:nvPr/>
        </p:nvSpPr>
        <p:spPr>
          <a:xfrm>
            <a:off x="4169349" y="5413248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7A4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naive floor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932688" y="2715768"/>
            <a:ext cx="1371600" cy="3814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70" b="1" dirty="0">
                <a:solidFill>
                  <a:srgbClr val="1C26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XGBoost</a:t>
            </a:r>
            <a:endParaRPr lang="en-US" sz="970" dirty="0"/>
          </a:p>
        </p:txBody>
      </p:sp>
      <p:sp>
        <p:nvSpPr>
          <p:cNvPr id="12" name="Shape 10"/>
          <p:cNvSpPr/>
          <p:nvPr/>
        </p:nvSpPr>
        <p:spPr>
          <a:xfrm>
            <a:off x="2395728" y="2799684"/>
            <a:ext cx="2018932" cy="213604"/>
          </a:xfrm>
          <a:prstGeom prst="rect">
            <a:avLst/>
          </a:prstGeom>
          <a:solidFill>
            <a:srgbClr val="2E6F9E"/>
          </a:solidFill>
          <a:ln/>
        </p:spPr>
      </p:sp>
      <p:sp>
        <p:nvSpPr>
          <p:cNvPr id="13" name="Text 11"/>
          <p:cNvSpPr/>
          <p:nvPr/>
        </p:nvSpPr>
        <p:spPr>
          <a:xfrm>
            <a:off x="4478668" y="2715768"/>
            <a:ext cx="566928" cy="3814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E6F9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0.337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932688" y="3097203"/>
            <a:ext cx="1371600" cy="3814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70" b="1" dirty="0">
                <a:solidFill>
                  <a:srgbClr val="1C26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GRU</a:t>
            </a:r>
            <a:endParaRPr lang="en-US" sz="970" dirty="0"/>
          </a:p>
        </p:txBody>
      </p:sp>
      <p:sp>
        <p:nvSpPr>
          <p:cNvPr id="15" name="Shape 13"/>
          <p:cNvSpPr/>
          <p:nvPr/>
        </p:nvSpPr>
        <p:spPr>
          <a:xfrm>
            <a:off x="2395728" y="3181119"/>
            <a:ext cx="2030914" cy="213604"/>
          </a:xfrm>
          <a:prstGeom prst="rect">
            <a:avLst/>
          </a:prstGeom>
          <a:solidFill>
            <a:srgbClr val="2E6F9E"/>
          </a:solidFill>
          <a:ln/>
        </p:spPr>
      </p:sp>
      <p:sp>
        <p:nvSpPr>
          <p:cNvPr id="16" name="Text 14"/>
          <p:cNvSpPr/>
          <p:nvPr/>
        </p:nvSpPr>
        <p:spPr>
          <a:xfrm>
            <a:off x="4490650" y="3097203"/>
            <a:ext cx="566928" cy="3814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E6F9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0.339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932688" y="3478639"/>
            <a:ext cx="1371600" cy="3814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70" b="1" dirty="0">
                <a:solidFill>
                  <a:srgbClr val="1C26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LSTM</a:t>
            </a:r>
            <a:endParaRPr lang="en-US" sz="970" dirty="0"/>
          </a:p>
        </p:txBody>
      </p:sp>
      <p:sp>
        <p:nvSpPr>
          <p:cNvPr id="18" name="Shape 16"/>
          <p:cNvSpPr/>
          <p:nvPr/>
        </p:nvSpPr>
        <p:spPr>
          <a:xfrm>
            <a:off x="2395728" y="3562555"/>
            <a:ext cx="2042896" cy="213604"/>
          </a:xfrm>
          <a:prstGeom prst="rect">
            <a:avLst/>
          </a:prstGeom>
          <a:solidFill>
            <a:srgbClr val="2E6F9E"/>
          </a:solidFill>
          <a:ln/>
        </p:spPr>
      </p:sp>
      <p:sp>
        <p:nvSpPr>
          <p:cNvPr id="19" name="Text 17"/>
          <p:cNvSpPr/>
          <p:nvPr/>
        </p:nvSpPr>
        <p:spPr>
          <a:xfrm>
            <a:off x="4502632" y="3478639"/>
            <a:ext cx="566928" cy="3814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E6F9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0.341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932688" y="3860074"/>
            <a:ext cx="1371600" cy="3814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70" b="1" dirty="0">
                <a:solidFill>
                  <a:srgbClr val="1C26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SARIMA</a:t>
            </a:r>
            <a:endParaRPr lang="en-US" sz="970" dirty="0"/>
          </a:p>
        </p:txBody>
      </p:sp>
      <p:sp>
        <p:nvSpPr>
          <p:cNvPr id="21" name="Shape 19"/>
          <p:cNvSpPr/>
          <p:nvPr/>
        </p:nvSpPr>
        <p:spPr>
          <a:xfrm>
            <a:off x="2395728" y="3943990"/>
            <a:ext cx="2066859" cy="213604"/>
          </a:xfrm>
          <a:prstGeom prst="rect">
            <a:avLst/>
          </a:prstGeom>
          <a:solidFill>
            <a:srgbClr val="2E6F9E"/>
          </a:solidFill>
          <a:ln/>
        </p:spPr>
      </p:sp>
      <p:sp>
        <p:nvSpPr>
          <p:cNvPr id="22" name="Text 20"/>
          <p:cNvSpPr/>
          <p:nvPr/>
        </p:nvSpPr>
        <p:spPr>
          <a:xfrm>
            <a:off x="4526595" y="3860074"/>
            <a:ext cx="566928" cy="3814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E6F9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0.345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932688" y="4241510"/>
            <a:ext cx="1371600" cy="3814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70" dirty="0">
                <a:solidFill>
                  <a:srgbClr val="8A95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Naive lag-1h</a:t>
            </a:r>
            <a:endParaRPr lang="en-US" sz="970" dirty="0"/>
          </a:p>
        </p:txBody>
      </p:sp>
      <p:sp>
        <p:nvSpPr>
          <p:cNvPr id="24" name="Shape 22"/>
          <p:cNvSpPr/>
          <p:nvPr/>
        </p:nvSpPr>
        <p:spPr>
          <a:xfrm>
            <a:off x="2395728" y="4325426"/>
            <a:ext cx="2276541" cy="213604"/>
          </a:xfrm>
          <a:prstGeom prst="rect">
            <a:avLst/>
          </a:prstGeom>
          <a:solidFill>
            <a:srgbClr val="B5564A"/>
          </a:solidFill>
          <a:ln/>
        </p:spPr>
      </p:sp>
      <p:sp>
        <p:nvSpPr>
          <p:cNvPr id="25" name="Text 23"/>
          <p:cNvSpPr/>
          <p:nvPr/>
        </p:nvSpPr>
        <p:spPr>
          <a:xfrm>
            <a:off x="4736277" y="4241510"/>
            <a:ext cx="566928" cy="3814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B556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0.380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932688" y="4622945"/>
            <a:ext cx="1371600" cy="3814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70" dirty="0">
                <a:solidFill>
                  <a:srgbClr val="8A95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Naive lag-24h</a:t>
            </a:r>
            <a:endParaRPr lang="en-US" sz="970" dirty="0"/>
          </a:p>
        </p:txBody>
      </p:sp>
      <p:sp>
        <p:nvSpPr>
          <p:cNvPr id="27" name="Shape 25"/>
          <p:cNvSpPr/>
          <p:nvPr/>
        </p:nvSpPr>
        <p:spPr>
          <a:xfrm>
            <a:off x="2395728" y="4706861"/>
            <a:ext cx="2917567" cy="213604"/>
          </a:xfrm>
          <a:prstGeom prst="rect">
            <a:avLst/>
          </a:prstGeom>
          <a:solidFill>
            <a:srgbClr val="B5564A"/>
          </a:solidFill>
          <a:ln/>
        </p:spPr>
      </p:sp>
      <p:sp>
        <p:nvSpPr>
          <p:cNvPr id="28" name="Text 26"/>
          <p:cNvSpPr/>
          <p:nvPr/>
        </p:nvSpPr>
        <p:spPr>
          <a:xfrm>
            <a:off x="5377303" y="4622945"/>
            <a:ext cx="566928" cy="3814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B556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0.487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932688" y="5004381"/>
            <a:ext cx="1371600" cy="3814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70" dirty="0">
                <a:solidFill>
                  <a:srgbClr val="8A95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Naive lag-168h</a:t>
            </a:r>
            <a:endParaRPr lang="en-US" sz="970" dirty="0"/>
          </a:p>
        </p:txBody>
      </p:sp>
      <p:sp>
        <p:nvSpPr>
          <p:cNvPr id="30" name="Shape 28"/>
          <p:cNvSpPr/>
          <p:nvPr/>
        </p:nvSpPr>
        <p:spPr>
          <a:xfrm>
            <a:off x="2395728" y="5088296"/>
            <a:ext cx="3271030" cy="213604"/>
          </a:xfrm>
          <a:prstGeom prst="rect">
            <a:avLst/>
          </a:prstGeom>
          <a:solidFill>
            <a:srgbClr val="B5564A"/>
          </a:solidFill>
          <a:ln/>
        </p:spPr>
      </p:sp>
      <p:sp>
        <p:nvSpPr>
          <p:cNvPr id="31" name="Text 29"/>
          <p:cNvSpPr/>
          <p:nvPr/>
        </p:nvSpPr>
        <p:spPr>
          <a:xfrm>
            <a:off x="5730766" y="5004381"/>
            <a:ext cx="566928" cy="3814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B556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0.546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950976" y="5641848"/>
            <a:ext cx="201168" cy="118872"/>
          </a:xfrm>
          <a:prstGeom prst="rect">
            <a:avLst/>
          </a:prstGeom>
          <a:solidFill>
            <a:srgbClr val="2E6F9E"/>
          </a:solidFill>
          <a:ln/>
        </p:spPr>
      </p:sp>
      <p:sp>
        <p:nvSpPr>
          <p:cNvPr id="33" name="Text 31"/>
          <p:cNvSpPr/>
          <p:nvPr/>
        </p:nvSpPr>
        <p:spPr>
          <a:xfrm>
            <a:off x="1207008" y="555955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A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model families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3108960" y="5641848"/>
            <a:ext cx="201168" cy="118872"/>
          </a:xfrm>
          <a:prstGeom prst="rect">
            <a:avLst/>
          </a:prstGeom>
          <a:solidFill>
            <a:srgbClr val="B5564A"/>
          </a:solidFill>
          <a:ln/>
        </p:spPr>
      </p:sp>
      <p:sp>
        <p:nvSpPr>
          <p:cNvPr id="35" name="Text 33"/>
          <p:cNvSpPr/>
          <p:nvPr/>
        </p:nvSpPr>
        <p:spPr>
          <a:xfrm>
            <a:off x="3364992" y="555955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A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Persistence baselines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6858000" y="1783080"/>
            <a:ext cx="4693615" cy="987552"/>
          </a:xfrm>
          <a:prstGeom prst="roundRect">
            <a:avLst>
              <a:gd name="adj" fmla="val 6481"/>
            </a:avLst>
          </a:prstGeom>
          <a:solidFill>
            <a:srgbClr val="FFFFFF"/>
          </a:solidFill>
          <a:ln w="12700">
            <a:solidFill>
              <a:srgbClr val="E2E8EE"/>
            </a:solidFill>
            <a:prstDash val="solid"/>
          </a:ln>
          <a:effectLst>
            <a:outerShdw sx="100000" sy="100000" kx="0" ky="0" algn="bl" rotWithShape="0" blurRad="88900" dist="25400" dir="5400000">
              <a:srgbClr val="1C2630">
                <a:alpha val="10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7095744" y="2048256"/>
            <a:ext cx="457200" cy="457200"/>
          </a:xfrm>
          <a:prstGeom prst="ellipse">
            <a:avLst/>
          </a:prstGeom>
          <a:solidFill>
            <a:srgbClr val="E6EFF5"/>
          </a:solidFill>
          <a:ln/>
        </p:spPr>
      </p:sp>
      <p:pic>
        <p:nvPicPr>
          <p:cNvPr id="3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00900" y="2153412"/>
            <a:ext cx="246888" cy="246888"/>
          </a:xfrm>
          <a:prstGeom prst="rect">
            <a:avLst/>
          </a:prstGeom>
        </p:spPr>
      </p:pic>
      <p:sp>
        <p:nvSpPr>
          <p:cNvPr id="39" name="Text 36"/>
          <p:cNvSpPr/>
          <p:nvPr/>
        </p:nvSpPr>
        <p:spPr>
          <a:xfrm>
            <a:off x="7726680" y="1901952"/>
            <a:ext cx="35963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263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top three are a statistical tie</a:t>
            </a:r>
            <a:endParaRPr lang="en-US" sz="1200" dirty="0"/>
          </a:p>
        </p:txBody>
      </p:sp>
      <p:sp>
        <p:nvSpPr>
          <p:cNvPr id="40" name="Text 37"/>
          <p:cNvSpPr/>
          <p:nvPr/>
        </p:nvSpPr>
        <p:spPr>
          <a:xfrm>
            <a:off x="7726680" y="2176272"/>
            <a:ext cx="3614623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60" dirty="0">
                <a:solidFill>
                  <a:srgbClr val="5E6A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XGBoost 0.337, GRU 0.339, LSTM 0.341. Diebold–Mariano clears significance only for XGBoost vs SARIMA.</a:t>
            </a:r>
            <a:endParaRPr lang="en-US" sz="960" dirty="0"/>
          </a:p>
        </p:txBody>
      </p:sp>
      <p:sp>
        <p:nvSpPr>
          <p:cNvPr id="41" name="Shape 38"/>
          <p:cNvSpPr/>
          <p:nvPr/>
        </p:nvSpPr>
        <p:spPr>
          <a:xfrm>
            <a:off x="6858000" y="2852928"/>
            <a:ext cx="4693615" cy="987552"/>
          </a:xfrm>
          <a:prstGeom prst="roundRect">
            <a:avLst>
              <a:gd name="adj" fmla="val 6481"/>
            </a:avLst>
          </a:prstGeom>
          <a:solidFill>
            <a:srgbClr val="FFFFFF"/>
          </a:solidFill>
          <a:ln w="12700">
            <a:solidFill>
              <a:srgbClr val="E2E8EE"/>
            </a:solidFill>
            <a:prstDash val="solid"/>
          </a:ln>
          <a:effectLst>
            <a:outerShdw sx="100000" sy="100000" kx="0" ky="0" algn="bl" rotWithShape="0" blurRad="88900" dist="25400" dir="5400000">
              <a:srgbClr val="1C2630">
                <a:alpha val="10000"/>
              </a:srgbClr>
            </a:outerShdw>
          </a:effectLst>
        </p:spPr>
      </p:sp>
      <p:sp>
        <p:nvSpPr>
          <p:cNvPr id="42" name="Shape 39"/>
          <p:cNvSpPr/>
          <p:nvPr/>
        </p:nvSpPr>
        <p:spPr>
          <a:xfrm>
            <a:off x="7095744" y="3118104"/>
            <a:ext cx="457200" cy="457200"/>
          </a:xfrm>
          <a:prstGeom prst="ellipse">
            <a:avLst/>
          </a:prstGeom>
          <a:solidFill>
            <a:srgbClr val="F5E8D5"/>
          </a:solidFill>
          <a:ln/>
        </p:spPr>
      </p:sp>
      <p:pic>
        <p:nvPicPr>
          <p:cNvPr id="4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00900" y="3223260"/>
            <a:ext cx="246888" cy="246888"/>
          </a:xfrm>
          <a:prstGeom prst="rect">
            <a:avLst/>
          </a:prstGeom>
        </p:spPr>
      </p:pic>
      <p:sp>
        <p:nvSpPr>
          <p:cNvPr id="44" name="Text 40"/>
          <p:cNvSpPr/>
          <p:nvPr/>
        </p:nvSpPr>
        <p:spPr>
          <a:xfrm>
            <a:off x="7726680" y="2971800"/>
            <a:ext cx="35963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263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Peak hours dominate the error budget</a:t>
            </a:r>
            <a:endParaRPr lang="en-US" sz="1200" dirty="0"/>
          </a:p>
        </p:txBody>
      </p:sp>
      <p:sp>
        <p:nvSpPr>
          <p:cNvPr id="45" name="Text 41"/>
          <p:cNvSpPr/>
          <p:nvPr/>
        </p:nvSpPr>
        <p:spPr>
          <a:xfrm>
            <a:off x="7726680" y="3246120"/>
            <a:ext cx="3614623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60" dirty="0">
                <a:solidFill>
                  <a:srgbClr val="5E6A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Evening 18–21h MAE runs ~2.5× the overnight low. XGBoost wins the quiet hours; GRU wins the peak.</a:t>
            </a:r>
            <a:endParaRPr lang="en-US" sz="960" dirty="0"/>
          </a:p>
        </p:txBody>
      </p:sp>
      <p:sp>
        <p:nvSpPr>
          <p:cNvPr id="46" name="Shape 42"/>
          <p:cNvSpPr/>
          <p:nvPr/>
        </p:nvSpPr>
        <p:spPr>
          <a:xfrm>
            <a:off x="6858000" y="3922776"/>
            <a:ext cx="4693615" cy="987552"/>
          </a:xfrm>
          <a:prstGeom prst="roundRect">
            <a:avLst>
              <a:gd name="adj" fmla="val 6481"/>
            </a:avLst>
          </a:prstGeom>
          <a:solidFill>
            <a:srgbClr val="FFFFFF"/>
          </a:solidFill>
          <a:ln w="12700">
            <a:solidFill>
              <a:srgbClr val="E2E8EE"/>
            </a:solidFill>
            <a:prstDash val="solid"/>
          </a:ln>
          <a:effectLst>
            <a:outerShdw sx="100000" sy="100000" kx="0" ky="0" algn="bl" rotWithShape="0" blurRad="88900" dist="25400" dir="5400000">
              <a:srgbClr val="1C2630">
                <a:alpha val="10000"/>
              </a:srgbClr>
            </a:outerShdw>
          </a:effectLst>
        </p:spPr>
      </p:sp>
      <p:sp>
        <p:nvSpPr>
          <p:cNvPr id="47" name="Shape 43"/>
          <p:cNvSpPr/>
          <p:nvPr/>
        </p:nvSpPr>
        <p:spPr>
          <a:xfrm>
            <a:off x="7095744" y="4187952"/>
            <a:ext cx="457200" cy="457200"/>
          </a:xfrm>
          <a:prstGeom prst="ellipse">
            <a:avLst/>
          </a:prstGeom>
          <a:solidFill>
            <a:srgbClr val="DEEFE6"/>
          </a:solidFill>
          <a:ln/>
        </p:spPr>
      </p:sp>
      <p:pic>
        <p:nvPicPr>
          <p:cNvPr id="4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00900" y="4293108"/>
            <a:ext cx="246888" cy="246888"/>
          </a:xfrm>
          <a:prstGeom prst="rect">
            <a:avLst/>
          </a:prstGeom>
        </p:spPr>
      </p:pic>
      <p:sp>
        <p:nvSpPr>
          <p:cNvPr id="49" name="Text 44"/>
          <p:cNvSpPr/>
          <p:nvPr/>
        </p:nvSpPr>
        <p:spPr>
          <a:xfrm>
            <a:off x="7726680" y="4041648"/>
            <a:ext cx="35963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263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season sets the difficulty</a:t>
            </a:r>
            <a:endParaRPr lang="en-US" sz="1200" dirty="0"/>
          </a:p>
        </p:txBody>
      </p:sp>
      <p:sp>
        <p:nvSpPr>
          <p:cNvPr id="50" name="Text 45"/>
          <p:cNvSpPr/>
          <p:nvPr/>
        </p:nvSpPr>
        <p:spPr>
          <a:xfrm>
            <a:off x="7726680" y="4315968"/>
            <a:ext cx="3614623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60" dirty="0">
                <a:solidFill>
                  <a:srgbClr val="5E6A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August (empty household) ≈ 0.22 kW; October (heating ramp) ≈ 0.44 kW — twice as hard to forecast.</a:t>
            </a:r>
            <a:endParaRPr lang="en-US" sz="960" dirty="0"/>
          </a:p>
        </p:txBody>
      </p:sp>
      <p:sp>
        <p:nvSpPr>
          <p:cNvPr id="51" name="Shape 46"/>
          <p:cNvSpPr/>
          <p:nvPr/>
        </p:nvSpPr>
        <p:spPr>
          <a:xfrm>
            <a:off x="6858000" y="4992624"/>
            <a:ext cx="4693615" cy="987552"/>
          </a:xfrm>
          <a:prstGeom prst="roundRect">
            <a:avLst>
              <a:gd name="adj" fmla="val 6481"/>
            </a:avLst>
          </a:prstGeom>
          <a:solidFill>
            <a:srgbClr val="FFFFFF"/>
          </a:solidFill>
          <a:ln w="12700">
            <a:solidFill>
              <a:srgbClr val="E2E8EE"/>
            </a:solidFill>
            <a:prstDash val="solid"/>
          </a:ln>
          <a:effectLst>
            <a:outerShdw sx="100000" sy="100000" kx="0" ky="0" algn="bl" rotWithShape="0" blurRad="88900" dist="25400" dir="5400000">
              <a:srgbClr val="1C2630">
                <a:alpha val="10000"/>
              </a:srgbClr>
            </a:outerShdw>
          </a:effectLst>
        </p:spPr>
      </p:sp>
      <p:sp>
        <p:nvSpPr>
          <p:cNvPr id="52" name="Shape 47"/>
          <p:cNvSpPr/>
          <p:nvPr/>
        </p:nvSpPr>
        <p:spPr>
          <a:xfrm>
            <a:off x="7095744" y="5257800"/>
            <a:ext cx="457200" cy="457200"/>
          </a:xfrm>
          <a:prstGeom prst="ellipse">
            <a:avLst/>
          </a:prstGeom>
          <a:solidFill>
            <a:srgbClr val="DBEDED"/>
          </a:solidFill>
          <a:ln/>
        </p:spPr>
      </p:sp>
      <p:pic>
        <p:nvPicPr>
          <p:cNvPr id="5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00900" y="5362956"/>
            <a:ext cx="246888" cy="246888"/>
          </a:xfrm>
          <a:prstGeom prst="rect">
            <a:avLst/>
          </a:prstGeom>
        </p:spPr>
      </p:pic>
      <p:sp>
        <p:nvSpPr>
          <p:cNvPr id="54" name="Text 48"/>
          <p:cNvSpPr/>
          <p:nvPr/>
        </p:nvSpPr>
        <p:spPr>
          <a:xfrm>
            <a:off x="7726680" y="5111496"/>
            <a:ext cx="35963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263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Weather data: modest, but real</a:t>
            </a:r>
            <a:endParaRPr lang="en-US" sz="1200" dirty="0"/>
          </a:p>
        </p:txBody>
      </p:sp>
      <p:sp>
        <p:nvSpPr>
          <p:cNvPr id="55" name="Text 49"/>
          <p:cNvSpPr/>
          <p:nvPr/>
        </p:nvSpPr>
        <p:spPr>
          <a:xfrm>
            <a:off x="7726680" y="5385816"/>
            <a:ext cx="3614623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60" dirty="0">
                <a:solidFill>
                  <a:srgbClr val="5E6A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free weather columns cut XGBoost MAE by 0.77%, concentrated on the heating-season folds.</a:t>
            </a:r>
            <a:endParaRPr lang="en-US" sz="960" dirty="0"/>
          </a:p>
        </p:txBody>
      </p:sp>
      <p:sp>
        <p:nvSpPr>
          <p:cNvPr id="56" name="Text 50"/>
          <p:cNvSpPr/>
          <p:nvPr/>
        </p:nvSpPr>
        <p:spPr>
          <a:xfrm>
            <a:off x="640080" y="6144768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8A95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Cross-fold mean MAE across six rolling-origin folds  ·  full significance testing and per-segment analysis in the technical report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E2A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6E8CA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03      THE BOTTOM LINE FOR ENEL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73152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this means for Enel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10637215" y="4572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00" kern="0" dirty="0">
                <a:solidFill>
                  <a:srgbClr val="5E789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04</a:t>
            </a:r>
            <a:pPr algn="r" indent="0" marL="0">
              <a:buNone/>
            </a:pPr>
            <a:r>
              <a:rPr lang="en-US" sz="1000" spc="100" kern="0" dirty="0">
                <a:solidFill>
                  <a:srgbClr val="5E789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/  04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640080" y="1298448"/>
            <a:ext cx="10908792" cy="841248"/>
          </a:xfrm>
          <a:prstGeom prst="roundRect">
            <a:avLst>
              <a:gd name="adj" fmla="val 7609"/>
            </a:avLst>
          </a:prstGeom>
          <a:solidFill>
            <a:srgbClr val="16324E"/>
          </a:solidFill>
          <a:ln w="12700">
            <a:solidFill>
              <a:srgbClr val="2A4C6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1481328"/>
            <a:ext cx="64008" cy="475488"/>
          </a:xfrm>
          <a:prstGeom prst="rect">
            <a:avLst/>
          </a:prstGeom>
          <a:solidFill>
            <a:srgbClr val="E0A24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1298448"/>
            <a:ext cx="10424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honest baseline, a reproducible pipeline, and a concrete first-step gain from free data.  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CFE0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next gain comes from better input information — not from new model architectures.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640080" y="2395728"/>
            <a:ext cx="3511296" cy="3200400"/>
          </a:xfrm>
          <a:prstGeom prst="roundRect">
            <a:avLst>
              <a:gd name="adj" fmla="val 2000"/>
            </a:avLst>
          </a:prstGeom>
          <a:solidFill>
            <a:srgbClr val="16324E"/>
          </a:solidFill>
          <a:ln w="12700">
            <a:solidFill>
              <a:srgbClr val="2A4C6E"/>
            </a:solidFill>
            <a:prstDash val="solid"/>
          </a:ln>
          <a:effectLst>
            <a:outerShdw sx="100000" sy="100000" kx="0" ky="0" algn="bl" rotWithShape="0" blurRad="114300" dist="38100" dir="5400000">
              <a:srgbClr val="0B1A2C">
                <a:alpha val="16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950976" y="2706624"/>
            <a:ext cx="603504" cy="603504"/>
          </a:xfrm>
          <a:prstGeom prst="ellipse">
            <a:avLst/>
          </a:prstGeom>
          <a:solidFill>
            <a:srgbClr val="E0A24A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7280" y="2852928"/>
            <a:ext cx="310896" cy="31089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700784" y="2761488"/>
            <a:ext cx="23225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0A2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COST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1700784" y="2999232"/>
            <a:ext cx="23225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DB2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vs. the baseline winner</a:t>
            </a:r>
            <a:endParaRPr lang="en-US" sz="850" dirty="0"/>
          </a:p>
        </p:txBody>
      </p:sp>
      <p:sp>
        <p:nvSpPr>
          <p:cNvPr id="13" name="Text 10"/>
          <p:cNvSpPr/>
          <p:nvPr/>
        </p:nvSpPr>
        <p:spPr>
          <a:xfrm>
            <a:off x="950976" y="3419856"/>
            <a:ext cx="296265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−0.77%</a:t>
            </a:r>
            <a:endParaRPr lang="en-US" sz="3300" dirty="0"/>
          </a:p>
        </p:txBody>
      </p:sp>
      <p:sp>
        <p:nvSpPr>
          <p:cNvPr id="14" name="Text 11"/>
          <p:cNvSpPr/>
          <p:nvPr/>
        </p:nvSpPr>
        <p:spPr>
          <a:xfrm>
            <a:off x="950976" y="4059936"/>
            <a:ext cx="29443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E0A2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Lower imbalance exposure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950976" y="4590288"/>
            <a:ext cx="294436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3000"/>
              </a:lnSpc>
              <a:buNone/>
            </a:pPr>
            <a:r>
              <a:rPr lang="en-US" sz="1000" dirty="0">
                <a:solidFill>
                  <a:srgbClr val="CFE0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MAE gain on the heating-season folds — when forecasting is hardest and electricity is most expensive. The Paris–Montsouris weather feed costs €0 via the public meteostat API.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4338828" y="2395728"/>
            <a:ext cx="3511296" cy="3200400"/>
          </a:xfrm>
          <a:prstGeom prst="roundRect">
            <a:avLst>
              <a:gd name="adj" fmla="val 2000"/>
            </a:avLst>
          </a:prstGeom>
          <a:solidFill>
            <a:srgbClr val="16324E"/>
          </a:solidFill>
          <a:ln w="12700">
            <a:solidFill>
              <a:srgbClr val="2A4C6E"/>
            </a:solidFill>
            <a:prstDash val="solid"/>
          </a:ln>
          <a:effectLst>
            <a:outerShdw sx="100000" sy="100000" kx="0" ky="0" algn="bl" rotWithShape="0" blurRad="114300" dist="38100" dir="5400000">
              <a:srgbClr val="0B1A2C">
                <a:alpha val="16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4649724" y="2706624"/>
            <a:ext cx="603504" cy="603504"/>
          </a:xfrm>
          <a:prstGeom prst="ellipse">
            <a:avLst/>
          </a:prstGeom>
          <a:solidFill>
            <a:srgbClr val="4FA3D1"/>
          </a:solidFill>
          <a:ln/>
        </p:spPr>
      </p:sp>
      <p:pic>
        <p:nvPicPr>
          <p:cNvPr id="1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6028" y="2852928"/>
            <a:ext cx="310896" cy="310896"/>
          </a:xfrm>
          <a:prstGeom prst="rect">
            <a:avLst/>
          </a:prstGeom>
        </p:spPr>
      </p:pic>
      <p:sp>
        <p:nvSpPr>
          <p:cNvPr id="19" name="Text 15"/>
          <p:cNvSpPr/>
          <p:nvPr/>
        </p:nvSpPr>
        <p:spPr>
          <a:xfrm>
            <a:off x="5399532" y="2761488"/>
            <a:ext cx="23225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4FA3D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STABILITY</a:t>
            </a:r>
            <a:endParaRPr lang="en-US" sz="1200" dirty="0"/>
          </a:p>
        </p:txBody>
      </p:sp>
      <p:sp>
        <p:nvSpPr>
          <p:cNvPr id="20" name="Text 16"/>
          <p:cNvSpPr/>
          <p:nvPr/>
        </p:nvSpPr>
        <p:spPr>
          <a:xfrm>
            <a:off x="5399532" y="2999232"/>
            <a:ext cx="23225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DB2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peak-to-overnight error ratio</a:t>
            </a:r>
            <a:endParaRPr lang="en-US" sz="850" dirty="0"/>
          </a:p>
        </p:txBody>
      </p:sp>
      <p:sp>
        <p:nvSpPr>
          <p:cNvPr id="21" name="Text 17"/>
          <p:cNvSpPr/>
          <p:nvPr/>
        </p:nvSpPr>
        <p:spPr>
          <a:xfrm>
            <a:off x="4649724" y="3419856"/>
            <a:ext cx="296265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2.5×</a:t>
            </a:r>
            <a:endParaRPr lang="en-US" sz="3300" dirty="0"/>
          </a:p>
        </p:txBody>
      </p:sp>
      <p:sp>
        <p:nvSpPr>
          <p:cNvPr id="22" name="Text 18"/>
          <p:cNvSpPr/>
          <p:nvPr/>
        </p:nvSpPr>
        <p:spPr>
          <a:xfrm>
            <a:off x="4649724" y="4059936"/>
            <a:ext cx="29443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4FA3D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right model for peak hours</a:t>
            </a:r>
            <a:endParaRPr lang="en-US" sz="1300" dirty="0"/>
          </a:p>
        </p:txBody>
      </p:sp>
      <p:sp>
        <p:nvSpPr>
          <p:cNvPr id="23" name="Text 19"/>
          <p:cNvSpPr/>
          <p:nvPr/>
        </p:nvSpPr>
        <p:spPr>
          <a:xfrm>
            <a:off x="4649724" y="4590288"/>
            <a:ext cx="294436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3000"/>
              </a:lnSpc>
              <a:buNone/>
            </a:pPr>
            <a:r>
              <a:rPr lang="en-US" sz="1000" dirty="0">
                <a:solidFill>
                  <a:srgbClr val="CFE0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Peak-hour MAE runs 2.5× the overnight level — the dominant grid risk. GRU beats XGBoost at 18–21h, so the data, not the leaderboard, picks the model.</a:t>
            </a:r>
            <a:endParaRPr lang="en-US" sz="1000" dirty="0"/>
          </a:p>
        </p:txBody>
      </p:sp>
      <p:sp>
        <p:nvSpPr>
          <p:cNvPr id="24" name="Shape 20"/>
          <p:cNvSpPr/>
          <p:nvPr/>
        </p:nvSpPr>
        <p:spPr>
          <a:xfrm>
            <a:off x="8037576" y="2395728"/>
            <a:ext cx="3511296" cy="3200400"/>
          </a:xfrm>
          <a:prstGeom prst="roundRect">
            <a:avLst>
              <a:gd name="adj" fmla="val 2000"/>
            </a:avLst>
          </a:prstGeom>
          <a:solidFill>
            <a:srgbClr val="16324E"/>
          </a:solidFill>
          <a:ln w="12700">
            <a:solidFill>
              <a:srgbClr val="2A4C6E"/>
            </a:solidFill>
            <a:prstDash val="solid"/>
          </a:ln>
          <a:effectLst>
            <a:outerShdw sx="100000" sy="100000" kx="0" ky="0" algn="bl" rotWithShape="0" blurRad="114300" dist="38100" dir="5400000">
              <a:srgbClr val="0B1A2C">
                <a:alpha val="16000"/>
              </a:srgbClr>
            </a:outerShdw>
          </a:effectLst>
        </p:spPr>
      </p:sp>
      <p:sp>
        <p:nvSpPr>
          <p:cNvPr id="25" name="Shape 21"/>
          <p:cNvSpPr/>
          <p:nvPr/>
        </p:nvSpPr>
        <p:spPr>
          <a:xfrm>
            <a:off x="8348472" y="2706624"/>
            <a:ext cx="603504" cy="603504"/>
          </a:xfrm>
          <a:prstGeom prst="ellipse">
            <a:avLst/>
          </a:prstGeom>
          <a:solidFill>
            <a:srgbClr val="4BA877"/>
          </a:solidFill>
          <a:ln/>
        </p:spPr>
      </p:sp>
      <p:pic>
        <p:nvPicPr>
          <p:cNvPr id="2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94776" y="2852928"/>
            <a:ext cx="310896" cy="310896"/>
          </a:xfrm>
          <a:prstGeom prst="rect">
            <a:avLst/>
          </a:prstGeom>
        </p:spPr>
      </p:pic>
      <p:sp>
        <p:nvSpPr>
          <p:cNvPr id="27" name="Text 22"/>
          <p:cNvSpPr/>
          <p:nvPr/>
        </p:nvSpPr>
        <p:spPr>
          <a:xfrm>
            <a:off x="9098280" y="2761488"/>
            <a:ext cx="23225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4BA87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SUSTAINABILITY</a:t>
            </a:r>
            <a:endParaRPr lang="en-US" sz="1200" dirty="0"/>
          </a:p>
        </p:txBody>
      </p:sp>
      <p:sp>
        <p:nvSpPr>
          <p:cNvPr id="28" name="Text 23"/>
          <p:cNvSpPr/>
          <p:nvPr/>
        </p:nvSpPr>
        <p:spPr>
          <a:xfrm>
            <a:off x="9098280" y="2999232"/>
            <a:ext cx="23225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DB2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compared head-to-head</a:t>
            </a:r>
            <a:endParaRPr lang="en-US" sz="850" dirty="0"/>
          </a:p>
        </p:txBody>
      </p:sp>
      <p:sp>
        <p:nvSpPr>
          <p:cNvPr id="29" name="Text 24"/>
          <p:cNvSpPr/>
          <p:nvPr/>
        </p:nvSpPr>
        <p:spPr>
          <a:xfrm>
            <a:off x="8348472" y="3419856"/>
            <a:ext cx="296265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 families</a:t>
            </a:r>
            <a:endParaRPr lang="en-US" sz="3300" dirty="0"/>
          </a:p>
        </p:txBody>
      </p:sp>
      <p:sp>
        <p:nvSpPr>
          <p:cNvPr id="30" name="Text 25"/>
          <p:cNvSpPr/>
          <p:nvPr/>
        </p:nvSpPr>
        <p:spPr>
          <a:xfrm>
            <a:off x="8348472" y="4059936"/>
            <a:ext cx="29443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4BA87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 credible fleet baseline</a:t>
            </a:r>
            <a:endParaRPr lang="en-US" sz="1300" dirty="0"/>
          </a:p>
        </p:txBody>
      </p:sp>
      <p:sp>
        <p:nvSpPr>
          <p:cNvPr id="31" name="Text 26"/>
          <p:cNvSpPr/>
          <p:nvPr/>
        </p:nvSpPr>
        <p:spPr>
          <a:xfrm>
            <a:off x="8348472" y="4590288"/>
            <a:ext cx="294436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3000"/>
              </a:lnSpc>
              <a:buNone/>
            </a:pPr>
            <a:r>
              <a:rPr lang="en-US" sz="1000" dirty="0">
                <a:solidFill>
                  <a:srgbClr val="CFE0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model families on one uniform protocol — a real starting point for fleet-wide deployment. A Streamlit dashboard makes forecasts reviewable without a notebook.</a:t>
            </a:r>
            <a:endParaRPr lang="en-US" sz="1000" dirty="0"/>
          </a:p>
        </p:txBody>
      </p:sp>
      <p:sp>
        <p:nvSpPr>
          <p:cNvPr id="32" name="Text 27"/>
          <p:cNvSpPr/>
          <p:nvPr/>
        </p:nvSpPr>
        <p:spPr>
          <a:xfrm>
            <a:off x="640080" y="5870448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Reproducible from one command    ·    src.zip    ·    technical_report.pdf    ·    presentation.pptx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Forecasting Hourly Household Electricity Consumption</dc:title>
  <dc:subject>PptxGenJS Presentation</dc:subject>
  <dc:creator>LUISS AI Techniques — Group Project</dc:creator>
  <cp:lastModifiedBy>LUISS AI Techniques — Group Project</cp:lastModifiedBy>
  <cp:revision>1</cp:revision>
  <dcterms:created xsi:type="dcterms:W3CDTF">2026-05-17T19:46:51Z</dcterms:created>
  <dcterms:modified xsi:type="dcterms:W3CDTF">2026-05-17T19:46:51Z</dcterms:modified>
</cp:coreProperties>
</file>